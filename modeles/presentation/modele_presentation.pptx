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1097280"/>
            <a:ext cx="4206240" cy="4206240"/>
          </a:xfrm>
          <a:prstGeom prst="ellipse">
            <a:avLst/>
          </a:prstGeom>
          <a:solidFill>
            <a:srgbClr val="2A3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4023360"/>
            <a:ext cx="2011680" cy="201168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772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Titre de la présentation sur deux lignes maximum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7FA"/>
                </a:solidFill>
                <a:latin typeface="Calibri"/>
              </a:rPr>
              <a:t>Sous-titre : contexte, objectif ou public visé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109728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7FA"/>
                </a:solidFill>
                <a:latin typeface="Calibri"/>
              </a:rPr>
              <a:t>Prénom Nom  |  Fonction</a:t>
            </a:r>
          </a:p>
          <a:p>
            <a:pPr algn="l"/>
            <a:r>
              <a:rPr sz="1400" b="0">
                <a:solidFill>
                  <a:srgbClr val="C9D7FA"/>
                </a:solidFill>
                <a:latin typeface="Calibri"/>
              </a:rPr>
              <a:t>Lieu, JJ mois AAAA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554480"/>
            <a:ext cx="640080" cy="64008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27632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Contexte et enjeux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286000"/>
            <a:ext cx="850392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97280" y="242316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96312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F2A44"/>
                </a:solidFill>
                <a:latin typeface="Calibri"/>
              </a:rPr>
              <a:t>Diagnostic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3154680"/>
            <a:ext cx="850392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97280" y="3291839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64991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F2A44"/>
                </a:solidFill>
                <a:latin typeface="Calibri"/>
              </a:rPr>
              <a:t>Propositions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4023359"/>
            <a:ext cx="850392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0" y="416052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33672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F2A44"/>
                </a:solidFill>
                <a:latin typeface="Calibri"/>
              </a:rPr>
              <a:t>Plan d'action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4892040"/>
            <a:ext cx="850392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7280" y="502920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102352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F2A44"/>
                </a:solidFill>
                <a:latin typeface="Calibri"/>
              </a:rPr>
              <a:t>Prochaines étapes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5760720"/>
            <a:ext cx="850392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Titre de la partie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3EBFD"/>
                </a:solidFill>
                <a:latin typeface="Calibri"/>
              </a:rPr>
              <a:t>Une phrase qui annonce ce que contient cette partie.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21208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Texte et visuel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Un message principal, illustré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F6FED"/>
                </a:solidFill>
                <a:latin typeface="Calibri"/>
              </a:rPr>
              <a:t>Message clé 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3035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Premier argument, formulé simplement.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Deuxième argument, avec un fait ou un chiffre.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Troisième argument, orienté action.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Paragraphe de conclusion de deux lignes au maximum pour garder la diapo lisible.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544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E3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667085"/>
                </a:solidFill>
                <a:latin typeface="Calibri"/>
              </a:rPr>
              <a:t>Zone visuel
(insérer image, picto ou graphique)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Trois idées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Présenter trois axes en parallèle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291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291840" cy="7315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E3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F6FE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Titre du bloc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Description courte de l'idée en deux à trois lignes. Rester concret et factuel.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291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291840" cy="7315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2103120"/>
            <a:ext cx="731520" cy="731520"/>
          </a:xfrm>
          <a:prstGeom prst="ellipse">
            <a:avLst/>
          </a:prstGeom>
          <a:solidFill>
            <a:srgbClr val="E3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F6FED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Titre du bloc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Description courte de l'idée en deux à trois lignes. Rester concret et factuel.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291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37360"/>
            <a:ext cx="3291840" cy="7315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103120"/>
            <a:ext cx="731520" cy="731520"/>
          </a:xfrm>
          <a:prstGeom prst="ellipse">
            <a:avLst/>
          </a:prstGeom>
          <a:solidFill>
            <a:srgbClr val="E3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F6FED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Titre du bloc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Description courte de l'idée en deux à trois lignes. Rester concret et factuel.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Chiffres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Quatre indicateurs 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468880" cy="2926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85 %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9D7FA"/>
                </a:solidFill>
                <a:latin typeface="Calibri"/>
              </a:rPr>
              <a:t>de satisfaction</a:t>
            </a:r>
          </a:p>
          <a:p>
            <a:pPr algn="ctr"/>
            <a:r>
              <a:rPr sz="1400" b="0">
                <a:solidFill>
                  <a:srgbClr val="C9D7FA"/>
                </a:solidFill>
                <a:latin typeface="Calibri"/>
              </a:rPr>
              <a:t>Source, période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01168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F6FED"/>
                </a:solidFill>
                <a:latin typeface="Calibri"/>
              </a:rPr>
              <a:t>1 200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661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utilisateurs actifs</a:t>
            </a:r>
          </a:p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Source, période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F6FED"/>
                </a:solidFill>
                <a:latin typeface="Calibri"/>
              </a:rPr>
              <a:t>x3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en deux ans</a:t>
            </a:r>
          </a:p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Source, période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01168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37744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F6FED"/>
                </a:solidFill>
                <a:latin typeface="Calibri"/>
              </a:rPr>
              <a:t>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5661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délai moyen</a:t>
            </a:r>
          </a:p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Source, période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Frise chronologique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Cinq étapes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3291840"/>
            <a:ext cx="9966960" cy="0"/>
          </a:xfrm>
          <a:prstGeom prst="line">
            <a:avLst/>
          </a:prstGeom>
          <a:ln w="254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88720" y="3017520"/>
            <a:ext cx="548640" cy="54864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AAAA</a:t>
            </a:r>
          </a:p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Trimestre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Étape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976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12" name="Oval 11"/>
          <p:cNvSpPr/>
          <p:nvPr/>
        </p:nvSpPr>
        <p:spPr>
          <a:xfrm>
            <a:off x="3566160" y="3017520"/>
            <a:ext cx="548640" cy="54864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103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AAAA</a:t>
            </a:r>
          </a:p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Trimestre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404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Étape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976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017520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103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AAAA</a:t>
            </a:r>
          </a:p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Trimestre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8404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Étape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2976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0" y="3017520"/>
            <a:ext cx="548640" cy="54864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2103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AAAA</a:t>
            </a:r>
          </a:p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Trimestre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8404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Étape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2976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24" name="Oval 23"/>
          <p:cNvSpPr/>
          <p:nvPr/>
        </p:nvSpPr>
        <p:spPr>
          <a:xfrm>
            <a:off x="10698480" y="3017520"/>
            <a:ext cx="548640" cy="54864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103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AAAA</a:t>
            </a:r>
          </a:p>
          <a:p>
            <a:pPr algn="ctr"/>
            <a:r>
              <a:rPr sz="1400" b="1">
                <a:solidFill>
                  <a:srgbClr val="2F6FED"/>
                </a:solidFill>
                <a:latin typeface="Calibri"/>
              </a:rPr>
              <a:t>Trimestre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8404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Étape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2976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Option A ou option B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2120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663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+ Avantage principal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+ Deuxième avantage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– Point de vigilance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– Contrainte à anticiper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Coût estimé : XX k€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Délai : X mois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Option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2120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663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+ Avantage principal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+ Deuxième avantage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– Point de vigilance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– Contrainte à anticiper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Coût estimé : XX k€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Délai : X mois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828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2F6FED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Une citation forte, courte et mémorable qui résume l'esprit du projet.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4526280"/>
            <a:ext cx="91440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47091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Prénom Nom</a:t>
            </a:r>
          </a:p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Fonction, organisation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Organigramme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554480"/>
            <a:ext cx="2743200" cy="8686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Direction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Prénom Nom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2423160"/>
            <a:ext cx="0" cy="45720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75688" y="2880360"/>
            <a:ext cx="804672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2880360"/>
            <a:ext cx="0" cy="32004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5528" y="3200400"/>
            <a:ext cx="2560320" cy="82296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Pôle 1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5688" y="4023360"/>
            <a:ext cx="0" cy="36576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35608" y="4389120"/>
            <a:ext cx="132588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17320" y="4389120"/>
            <a:ext cx="0" cy="27432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8" y="4663440"/>
            <a:ext cx="123444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Équipe</a:t>
            </a:r>
          </a:p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Nom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4389120"/>
            <a:ext cx="0" cy="27432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21408" y="4663440"/>
            <a:ext cx="123444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Équipe</a:t>
            </a:r>
          </a:p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Nom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2880360"/>
            <a:ext cx="0" cy="32004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18888" y="3200400"/>
            <a:ext cx="2560320" cy="82296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Pôle 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023360"/>
            <a:ext cx="0" cy="36576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58968" y="4389120"/>
            <a:ext cx="132588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40679" y="4389120"/>
            <a:ext cx="0" cy="27432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18888" y="4663440"/>
            <a:ext cx="123444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Équipe</a:t>
            </a:r>
          </a:p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Nom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66559" y="4389120"/>
            <a:ext cx="0" cy="27432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44768" y="4663440"/>
            <a:ext cx="123444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Équipe</a:t>
            </a:r>
          </a:p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Nom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22408" y="2880360"/>
            <a:ext cx="0" cy="32004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42248" y="3200400"/>
            <a:ext cx="2560320" cy="82296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Pôle 3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22408" y="4023360"/>
            <a:ext cx="0" cy="36576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82328" y="4389120"/>
            <a:ext cx="132588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64040" y="4389120"/>
            <a:ext cx="0" cy="27432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42248" y="4663440"/>
            <a:ext cx="123444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Équipe</a:t>
            </a:r>
          </a:p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Nom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789919" y="4389120"/>
            <a:ext cx="0" cy="27432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68128" y="4663440"/>
            <a:ext cx="123444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Équipe</a:t>
            </a:r>
          </a:p>
          <a:p>
            <a:pPr algn="ctr"/>
            <a:r>
              <a:rPr sz="1100" b="0">
                <a:solidFill>
                  <a:srgbClr val="1F2A44"/>
                </a:solidFill>
                <a:latin typeface="Calibri"/>
              </a:rPr>
              <a:t>Nom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Synthèse des indicateurs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Année N-1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Année 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Évolution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Commentaire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Indicateur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+ 0 %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Texte court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Indicateur 2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+ 0 %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Texte court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Indicateur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+ 0 %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Texte court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Indicateur 4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+ 0 %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Texte court</a:t>
                      </a:r>
                    </a:p>
                  </a:txBody>
                  <a:tcPr>
                    <a:solidFill>
                      <a:srgbClr val="E9EEF6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Indicateur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+ 0 %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Texte court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7FA"/>
                </a:solidFill>
                <a:latin typeface="Calibri"/>
              </a:rPr>
              <a:t>À retenir :</a:t>
            </a:r>
          </a:p>
          <a:p>
            <a:pPr algn="l"/>
            <a:r>
              <a:rPr sz="2000" b="0">
                <a:solidFill>
                  <a:srgbClr val="C9D7FA"/>
                </a:solidFill>
                <a:latin typeface="Calibri"/>
              </a:rPr>
              <a:t>• Message clé n°1</a:t>
            </a:r>
          </a:p>
          <a:p>
            <a:pPr algn="l"/>
            <a:r>
              <a:rPr sz="2000" b="0">
                <a:solidFill>
                  <a:srgbClr val="C9D7FA"/>
                </a:solidFill>
                <a:latin typeface="Calibri"/>
              </a:rPr>
              <a:t>• Message clé n°2</a:t>
            </a:r>
          </a:p>
          <a:p>
            <a:pPr algn="l"/>
            <a:r>
              <a:rPr sz="2000" b="0">
                <a:solidFill>
                  <a:srgbClr val="C9D7FA"/>
                </a:solidFill>
                <a:latin typeface="Calibri"/>
              </a:rPr>
              <a:t>• Prochaine étape et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4023360" cy="3840480"/>
          </a:xfrm>
          <a:prstGeom prst="roundRect">
            <a:avLst/>
          </a:prstGeom>
          <a:solidFill>
            <a:srgbClr val="2A3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3474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Prénom Nom</a:t>
            </a:r>
          </a:p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Fonction</a:t>
            </a:r>
          </a:p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prenom.nom@exemple.fr</a:t>
            </a:r>
          </a:p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+33 0 00 00 00 00</a:t>
            </a:r>
          </a:p>
          <a:p>
            <a:pPr algn="l"/>
            <a:r>
              <a:rPr sz="1600" b="0">
                <a:solidFill>
                  <a:srgbClr val="C9D7FA"/>
                </a:solidFill>
                <a:latin typeface="Calibri"/>
              </a:rPr>
              <a:t>www.exemple.fr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