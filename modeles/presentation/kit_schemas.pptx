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Matrice 2 ×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Positionner des éléments selon deux critères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63040"/>
            <a:ext cx="3154680" cy="2240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Priorité 1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Important et urgent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3154680" cy="22402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Priorité 2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Important, non urgent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3794760"/>
            <a:ext cx="3154680" cy="2240280"/>
          </a:xfrm>
          <a:prstGeom prst="rect">
            <a:avLst/>
          </a:prstGeom>
          <a:solidFill>
            <a:srgbClr val="9D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F2A44"/>
                </a:solidFill>
                <a:latin typeface="Calibri"/>
              </a:rPr>
              <a:t>Priorité 3</a:t>
            </a:r>
          </a:p>
          <a:p>
            <a:pPr algn="ctr"/>
            <a:r>
              <a:rPr sz="1600" b="0">
                <a:solidFill>
                  <a:srgbClr val="1F2A44"/>
                </a:solidFill>
                <a:latin typeface="Calibri"/>
              </a:rPr>
              <a:t>Urgent, peu important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794760"/>
            <a:ext cx="3154680" cy="2240280"/>
          </a:xfrm>
          <a:prstGeom prst="rect">
            <a:avLst/>
          </a:prstGeom>
          <a:solidFill>
            <a:srgbClr val="C9D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F2A44"/>
                </a:solidFill>
                <a:latin typeface="Calibri"/>
              </a:rPr>
              <a:t>Priorité 4</a:t>
            </a:r>
          </a:p>
          <a:p>
            <a:pPr algn="ctr"/>
            <a:r>
              <a:rPr sz="1600" b="0">
                <a:solidFill>
                  <a:srgbClr val="1F2A44"/>
                </a:solidFill>
                <a:latin typeface="Calibri"/>
              </a:rPr>
              <a:t>Ni l'un ni l'autre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126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Axe horizontal : critère X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667085"/>
                </a:solidFill>
                <a:latin typeface="Calibri"/>
              </a:rPr>
              <a:t>Axe vertical : critère Y  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Entonnoir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Quatre niveaux de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Trapezoid 6"/>
          <p:cNvSpPr/>
          <p:nvPr/>
        </p:nvSpPr>
        <p:spPr>
          <a:xfrm rot="10800000">
            <a:off x="2441448" y="1554480"/>
            <a:ext cx="7315200" cy="1051560"/>
          </a:xfrm>
          <a:prstGeom prst="trapezoid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441448" y="1554480"/>
            <a:ext cx="7315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Visiteurs  –  10 000</a:t>
            </a:r>
          </a:p>
        </p:txBody>
      </p:sp>
      <p:sp>
        <p:nvSpPr>
          <p:cNvPr id="9" name="Trapezoid 8"/>
          <p:cNvSpPr/>
          <p:nvPr/>
        </p:nvSpPr>
        <p:spPr>
          <a:xfrm rot="10800000">
            <a:off x="3218688" y="2697480"/>
            <a:ext cx="5760720" cy="1051560"/>
          </a:xfrm>
          <a:prstGeom prst="trapezoid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218688" y="2697480"/>
            <a:ext cx="5760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Prospects  –  2 500</a:t>
            </a:r>
          </a:p>
        </p:txBody>
      </p:sp>
      <p:sp>
        <p:nvSpPr>
          <p:cNvPr id="11" name="Trapezoid 10"/>
          <p:cNvSpPr/>
          <p:nvPr/>
        </p:nvSpPr>
        <p:spPr>
          <a:xfrm rot="10800000">
            <a:off x="3995928" y="3840480"/>
            <a:ext cx="4206240" cy="1051560"/>
          </a:xfrm>
          <a:prstGeom prst="trapezoid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95928" y="3840480"/>
            <a:ext cx="42062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Calibri"/>
              </a:rPr>
              <a:t>Clients  –  500</a:t>
            </a:r>
          </a:p>
        </p:txBody>
      </p:sp>
      <p:sp>
        <p:nvSpPr>
          <p:cNvPr id="13" name="Trapezoid 12"/>
          <p:cNvSpPr/>
          <p:nvPr/>
        </p:nvSpPr>
        <p:spPr>
          <a:xfrm rot="10800000">
            <a:off x="4773168" y="4983480"/>
            <a:ext cx="2651760" cy="1051560"/>
          </a:xfrm>
          <a:prstGeom prst="trapezoid">
            <a:avLst/>
          </a:prstGeom>
          <a:solidFill>
            <a:srgbClr val="9D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73168" y="4983480"/>
            <a:ext cx="2651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Calibri"/>
              </a:rPr>
              <a:t>Fidèles  –  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Quatre étapes qui se répètent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4361688" y="2011679"/>
            <a:ext cx="3474720" cy="3474720"/>
          </a:xfrm>
          <a:prstGeom prst="ellipse">
            <a:avLst/>
          </a:prstGeom>
          <a:noFill/>
          <a:ln w="15875">
            <a:solidFill>
              <a:srgbClr val="C9D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67528" y="1280159"/>
            <a:ext cx="1463040" cy="146304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Planifier</a:t>
            </a:r>
          </a:p>
        </p:txBody>
      </p:sp>
      <p:sp>
        <p:nvSpPr>
          <p:cNvPr id="9" name="Oval 8"/>
          <p:cNvSpPr/>
          <p:nvPr/>
        </p:nvSpPr>
        <p:spPr>
          <a:xfrm>
            <a:off x="7104888" y="3017520"/>
            <a:ext cx="1463040" cy="14630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Réaliser</a:t>
            </a:r>
          </a:p>
        </p:txBody>
      </p:sp>
      <p:sp>
        <p:nvSpPr>
          <p:cNvPr id="10" name="Oval 9"/>
          <p:cNvSpPr/>
          <p:nvPr/>
        </p:nvSpPr>
        <p:spPr>
          <a:xfrm>
            <a:off x="5367528" y="4754880"/>
            <a:ext cx="1463040" cy="1463040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Vérifier</a:t>
            </a:r>
          </a:p>
        </p:txBody>
      </p:sp>
      <p:sp>
        <p:nvSpPr>
          <p:cNvPr id="11" name="Oval 10"/>
          <p:cNvSpPr/>
          <p:nvPr/>
        </p:nvSpPr>
        <p:spPr>
          <a:xfrm>
            <a:off x="3630168" y="3017520"/>
            <a:ext cx="1463040" cy="1463040"/>
          </a:xfrm>
          <a:prstGeom prst="ellipse">
            <a:avLst/>
          </a:prstGeom>
          <a:solidFill>
            <a:srgbClr val="9D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2A44"/>
                </a:solidFill>
                <a:latin typeface="Calibri"/>
              </a:rPr>
              <a:t>Ajuster</a:t>
            </a:r>
          </a:p>
        </p:txBody>
      </p:sp>
      <p:sp>
        <p:nvSpPr>
          <p:cNvPr id="12" name="Circular Arrow 11"/>
          <p:cNvSpPr/>
          <p:nvPr/>
        </p:nvSpPr>
        <p:spPr>
          <a:xfrm>
            <a:off x="5276088" y="2926079"/>
            <a:ext cx="1645920" cy="1645920"/>
          </a:xfrm>
          <a:prstGeom prst="circularArrow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Pyramide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Quatre niveaux hiérarchiques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367528" y="1463040"/>
            <a:ext cx="1463040" cy="1097280"/>
          </a:xfrm>
          <a:prstGeom prst="triangl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49440" y="2148840"/>
            <a:ext cx="914400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55279" y="19202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Vision – description courte</a:t>
            </a:r>
          </a:p>
        </p:txBody>
      </p:sp>
      <p:sp>
        <p:nvSpPr>
          <p:cNvPr id="10" name="Trapezoid 9"/>
          <p:cNvSpPr/>
          <p:nvPr/>
        </p:nvSpPr>
        <p:spPr>
          <a:xfrm>
            <a:off x="4636008" y="2606040"/>
            <a:ext cx="2926080" cy="1097280"/>
          </a:xfrm>
          <a:prstGeom prst="trapezoid">
            <a:avLst>
              <a:gd name="adj" fmla="val 66666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Stratégie</a:t>
            </a:r>
          </a:p>
        </p:txBody>
      </p:sp>
      <p:sp>
        <p:nvSpPr>
          <p:cNvPr id="11" name="Trapezoid 10"/>
          <p:cNvSpPr/>
          <p:nvPr/>
        </p:nvSpPr>
        <p:spPr>
          <a:xfrm>
            <a:off x="3904487" y="3749039"/>
            <a:ext cx="4389120" cy="1097280"/>
          </a:xfrm>
          <a:prstGeom prst="trapezoid">
            <a:avLst>
              <a:gd name="adj" fmla="val 66666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Tactique</a:t>
            </a:r>
          </a:p>
        </p:txBody>
      </p:sp>
      <p:sp>
        <p:nvSpPr>
          <p:cNvPr id="12" name="Trapezoid 11"/>
          <p:cNvSpPr/>
          <p:nvPr/>
        </p:nvSpPr>
        <p:spPr>
          <a:xfrm>
            <a:off x="3172968" y="4892040"/>
            <a:ext cx="5852160" cy="1097280"/>
          </a:xfrm>
          <a:prstGeom prst="trapezoid">
            <a:avLst>
              <a:gd name="adj" fmla="val 66666"/>
            </a:avLst>
          </a:prstGeom>
          <a:solidFill>
            <a:srgbClr val="9D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Opérations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Processus en chevrons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Cinq étapes séquentielles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Pentagon 6"/>
          <p:cNvSpPr/>
          <p:nvPr/>
        </p:nvSpPr>
        <p:spPr>
          <a:xfrm>
            <a:off x="731520" y="2194560"/>
            <a:ext cx="2286000" cy="1097280"/>
          </a:xfrm>
          <a:prstGeom prst="homePlat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Étape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9" name="Chevron 8"/>
          <p:cNvSpPr/>
          <p:nvPr/>
        </p:nvSpPr>
        <p:spPr>
          <a:xfrm>
            <a:off x="2907791" y="2194560"/>
            <a:ext cx="2286000" cy="1097280"/>
          </a:xfrm>
          <a:prstGeom prst="chevron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Étape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356616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11" name="Chevron 10"/>
          <p:cNvSpPr/>
          <p:nvPr/>
        </p:nvSpPr>
        <p:spPr>
          <a:xfrm>
            <a:off x="5084064" y="2194560"/>
            <a:ext cx="2286000" cy="1097280"/>
          </a:xfrm>
          <a:prstGeom prst="chevron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Étape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356616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13" name="Chevron 12"/>
          <p:cNvSpPr/>
          <p:nvPr/>
        </p:nvSpPr>
        <p:spPr>
          <a:xfrm>
            <a:off x="7260336" y="2194560"/>
            <a:ext cx="2286000" cy="1097280"/>
          </a:xfrm>
          <a:prstGeom prst="chevron">
            <a:avLst/>
          </a:prstGeom>
          <a:solidFill>
            <a:srgbClr val="9D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Étape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5" y="356616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  <p:sp>
        <p:nvSpPr>
          <p:cNvPr id="15" name="Chevron 14"/>
          <p:cNvSpPr/>
          <p:nvPr/>
        </p:nvSpPr>
        <p:spPr>
          <a:xfrm>
            <a:off x="9436608" y="2194560"/>
            <a:ext cx="2286000" cy="1097280"/>
          </a:xfrm>
          <a:prstGeom prst="chevron">
            <a:avLst/>
          </a:prstGeom>
          <a:solidFill>
            <a:srgbClr val="C9D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Étape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88" y="356616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Calibri"/>
              </a:rPr>
              <a:t>Description courte de l'étape.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Jalons sur l'année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63347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712" y="1554480"/>
            <a:ext cx="263347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4" y="1554480"/>
            <a:ext cx="263347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9096" y="1554480"/>
            <a:ext cx="263347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67085"/>
                </a:solidFill>
                <a:latin typeface="Calibri"/>
              </a:rPr>
              <a:t>Chantier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4018788" cy="41148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Livrable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67085"/>
                </a:solidFill>
                <a:latin typeface="Calibri"/>
              </a:rPr>
              <a:t>Chantier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3383280"/>
            <a:ext cx="5358384" cy="411480"/>
          </a:xfrm>
          <a:prstGeom prst="round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Livrable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67085"/>
                </a:solidFill>
                <a:latin typeface="Calibri"/>
              </a:rPr>
              <a:t>Chantier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5742" y="4389120"/>
            <a:ext cx="4822545" cy="411480"/>
          </a:xfrm>
          <a:prstGeom prst="roundRect">
            <a:avLst/>
          </a:prstGeom>
          <a:solidFill>
            <a:srgbClr val="9D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Livrable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577840"/>
            <a:ext cx="10698480" cy="0"/>
          </a:xfrm>
          <a:prstGeom prst="line">
            <a:avLst/>
          </a:prstGeom>
          <a:ln w="254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2103120" y="5394960"/>
            <a:ext cx="365760" cy="365760"/>
          </a:xfrm>
          <a:prstGeom prst="diamond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8064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Calibri"/>
              </a:rPr>
              <a:t>Jalon 1</a:t>
            </a:r>
          </a:p>
        </p:txBody>
      </p:sp>
      <p:sp>
        <p:nvSpPr>
          <p:cNvPr id="20" name="Diamond 19"/>
          <p:cNvSpPr/>
          <p:nvPr/>
        </p:nvSpPr>
        <p:spPr>
          <a:xfrm>
            <a:off x="5486400" y="5394960"/>
            <a:ext cx="365760" cy="365760"/>
          </a:xfrm>
          <a:prstGeom prst="diamond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58064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Calibri"/>
              </a:rPr>
              <a:t>Jalon 2</a:t>
            </a:r>
          </a:p>
        </p:txBody>
      </p:sp>
      <p:sp>
        <p:nvSpPr>
          <p:cNvPr id="22" name="Diamond 21"/>
          <p:cNvSpPr/>
          <p:nvPr/>
        </p:nvSpPr>
        <p:spPr>
          <a:xfrm>
            <a:off x="9326880" y="5394960"/>
            <a:ext cx="365760" cy="365760"/>
          </a:xfrm>
          <a:prstGeom prst="diamond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58064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Calibri"/>
              </a:rPr>
              <a:t>Jalon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Diagramme de Venn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Trois ensembles et leur intersection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4023360" y="1463040"/>
            <a:ext cx="2743200" cy="2743200"/>
          </a:xfrm>
          <a:prstGeom prst="ellipse">
            <a:avLst/>
          </a:prstGeom>
          <a:solidFill>
            <a:srgbClr val="1F2A44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37744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Ensemble A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1463040"/>
            <a:ext cx="2743200" cy="2743200"/>
          </a:xfrm>
          <a:prstGeom prst="ellipse">
            <a:avLst/>
          </a:prstGeom>
          <a:solidFill>
            <a:srgbClr val="2F6FE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37744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Ensemble B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3108960"/>
            <a:ext cx="2743200" cy="2743200"/>
          </a:xfrm>
          <a:prstGeom prst="ellipse">
            <a:avLst/>
          </a:prstGeom>
          <a:solidFill>
            <a:srgbClr val="5B8DE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41848" y="4846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Ensemble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42900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Cœur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Arbre de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Une question, deux branches, quatre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Diamond 6"/>
          <p:cNvSpPr/>
          <p:nvPr/>
        </p:nvSpPr>
        <p:spPr>
          <a:xfrm>
            <a:off x="4956048" y="1371600"/>
            <a:ext cx="2286000" cy="1280160"/>
          </a:xfrm>
          <a:prstGeom prst="diamond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Question 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355848" y="2651760"/>
            <a:ext cx="2743200" cy="548640"/>
          </a:xfrm>
          <a:prstGeom prst="line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70248" y="26060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F6FED"/>
                </a:solidFill>
                <a:latin typeface="Calibri"/>
              </a:rPr>
              <a:t>Oui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3200400"/>
            <a:ext cx="2377440" cy="82296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Sous-question 1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84248" y="4023360"/>
            <a:ext cx="1371600" cy="640080"/>
          </a:xfrm>
          <a:prstGeom prst="line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6968" y="4663440"/>
            <a:ext cx="219456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Issue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55848" y="4023360"/>
            <a:ext cx="1371600" cy="640080"/>
          </a:xfrm>
          <a:prstGeom prst="line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30168" y="4663440"/>
            <a:ext cx="219456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Issue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2651760"/>
            <a:ext cx="2743200" cy="548640"/>
          </a:xfrm>
          <a:prstGeom prst="line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13448" y="26060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F6FED"/>
                </a:solidFill>
                <a:latin typeface="Calibri"/>
              </a:rPr>
              <a:t>Non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53527" y="3200400"/>
            <a:ext cx="2377440" cy="822960"/>
          </a:xfrm>
          <a:prstGeom prst="round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Sous-question 2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470648" y="4023360"/>
            <a:ext cx="1371600" cy="640080"/>
          </a:xfrm>
          <a:prstGeom prst="line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73368" y="4663440"/>
            <a:ext cx="219456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Issue 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42248" y="4023360"/>
            <a:ext cx="1371600" cy="640080"/>
          </a:xfrm>
          <a:prstGeom prst="line">
            <a:avLst/>
          </a:prstGeom>
          <a:ln w="1905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16568" y="4663440"/>
            <a:ext cx="219456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Issue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Forces, faiblesses, opportunités, menaces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30352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Forces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5303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1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2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303520" cy="5029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Faiblesses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5303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1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2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5303520" cy="5029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Opportunités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5303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1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2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886200"/>
            <a:ext cx="5303520" cy="502920"/>
          </a:xfrm>
          <a:prstGeom prst="rect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Menaces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89120"/>
            <a:ext cx="5303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2628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1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2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•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Avant / Après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</a:rPr>
              <a:t>Montrer la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Nom de l'organisation  |  Titre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4572000" cy="640080"/>
          </a:xfrm>
          <a:prstGeom prst="rect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Avant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45720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023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1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2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3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554480"/>
            <a:ext cx="4572000" cy="640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Après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2194560"/>
            <a:ext cx="45720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377440"/>
            <a:ext cx="4023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1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2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3</a:t>
            </a:r>
          </a:p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• Situation 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86400" y="3383280"/>
            <a:ext cx="1188720" cy="822960"/>
          </a:xfrm>
          <a:prstGeom prst="rightArrow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